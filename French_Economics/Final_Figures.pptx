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77" r:id="rId3"/>
    <p:sldId id="259" r:id="rId4"/>
    <p:sldId id="256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5021"/>
    <a:srgbClr val="0AA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3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C8F05-5A5E-4E89-89BB-3BCD864EA25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A7BDA-6AAB-46CD-A328-D617ED96E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316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A7BDA-6AAB-46CD-A328-D617ED96E0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6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2821-6951-AEE0-01E5-AE89524D8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60BCE-9899-C460-3301-E16A7B7B5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0FB17-CCC7-0425-0829-1F3B98A6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BF290-9ACD-471D-F772-6DFC2B40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280DD-C486-61C3-0EA7-1983748B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0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1022-A778-5A47-A30A-D87588E9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A2C2-2B8F-2B75-8E56-441835DC7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E21C5-824A-E706-4E23-2283D1CD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B8005-2C56-1716-1AB8-E6369DDB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C3371-0A61-AEA7-901C-376A97A1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1DFA-BAE0-E18A-E45A-DD608006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E5B0-60A6-E017-C069-35278E166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9C86B-FEE9-AE33-FD1C-0A2E19514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2945B-866E-7E0E-9A98-03B3B829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3172B-55C7-A672-0B2D-CB8354A1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4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88498-C9E5-D642-64B4-0C3870F7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C81C-FE24-DB27-51DA-12EC94FE1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83C22-32CF-E20F-7221-C9D4C8D35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3FA7F-2AE5-682A-37B2-E1CEAC45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E881B-6CF1-624A-C730-EEFC0A8BF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C82CD-7389-2273-5784-0E5CD645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CD9A-23C8-CE39-0E2F-43D07F28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089AA-2C13-626C-2F1B-BF106D4E1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C0C61-CA1C-C1A0-8122-AB6AF876C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D5518-38AC-89BD-1BBD-A99D00BA1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9F4E7-3839-833A-B397-5807BDD08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79448-C412-8CAA-FFA3-6F874ECE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5785E-AC58-15C2-91C2-82072E2C9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8B5A94-589D-E525-7580-6A05B678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7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25AB-BF1D-FB1A-8C55-0D3215476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BE17D-7F55-7034-0B7D-5658B845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F20CA-96A5-08DB-B845-016F9881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3F860-CA45-0C0D-0968-5C81F76D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0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75EA3-2778-F6B1-03EA-BF09D0DE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B75DA-4029-98E5-4B01-8ED6DE5E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CDF8-742A-7C23-548B-7EEEC5F4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8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7D7E-FDDD-1E08-34CB-08633E44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5F60-D2E4-3DE8-1FB9-C6277DC1C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CF9E0-A49A-0227-EA00-FC9A074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44680-349E-23D1-5828-D9C4AE40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7871E-2E49-1AF3-C91E-B9743B14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8CB5F-60BA-A6D9-B515-E51A749D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61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D720-33DB-AF2F-B2B3-4F6B55AB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9CFE7D-5689-9E92-FE8A-B4E3363C5B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BFC08-C3B5-BCAA-13B1-D4260D21F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FD423-0578-4C74-0844-185DDD04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82F70-0624-7579-C7A2-1E5BBB06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91187-FE31-803A-A261-0FD45988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5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8B52-DF58-8D0F-D62C-35F74760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EF1CF7-F717-EB67-A78B-E429D8B4B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790F9-1D57-03C4-7BC1-4A1032AF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F1B04-CEE5-F131-5919-F00E313CE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B85A1-0925-8C98-95AE-CF649E15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DE0DE8-EFEC-A122-8854-9DA8569D9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6B5EA-5004-9420-BF6A-0FE233B9A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76170-3013-1A21-DF90-7950D999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2FBFA-AA6C-9C11-99A1-939A0A06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9ADB2-A66C-0225-661A-506E2E70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76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F432F-5DF4-54D0-D62C-21D1AFBC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410B8-7BD5-CE11-689D-D883E1A4C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AA950-5887-578A-B186-984BE669D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26B90-69EB-4ADF-B5BF-66F8DBB383FA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A825-6F2F-E06F-4539-D27C549C6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3751A-326F-9703-0876-E7915346A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D3B40-98A1-4B7D-8FBB-F76F7EF8E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8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923C2CD6-0EE5-6223-A1FF-938D6A1EF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678" y="1166654"/>
            <a:ext cx="4063492" cy="472380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B6D5F7F-4955-682C-1171-EFFCE021B0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64"/>
          <a:stretch>
            <a:fillRect/>
          </a:stretch>
        </p:blipFill>
        <p:spPr>
          <a:xfrm>
            <a:off x="5979682" y="1123930"/>
            <a:ext cx="4801724" cy="33396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91F3CD8-2A06-8FD0-EA81-AE50921F6A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208"/>
          <a:stretch>
            <a:fillRect/>
          </a:stretch>
        </p:blipFill>
        <p:spPr>
          <a:xfrm>
            <a:off x="5360061" y="3736993"/>
            <a:ext cx="5575290" cy="6919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0B4AE7-942A-381E-58D0-89578059B400}"/>
              </a:ext>
            </a:extLst>
          </p:cNvPr>
          <p:cNvSpPr/>
          <p:nvPr/>
        </p:nvSpPr>
        <p:spPr>
          <a:xfrm>
            <a:off x="2060575" y="1267980"/>
            <a:ext cx="3181350" cy="957695"/>
          </a:xfrm>
          <a:prstGeom prst="rect">
            <a:avLst/>
          </a:prstGeom>
          <a:gradFill>
            <a:gsLst>
              <a:gs pos="100000">
                <a:srgbClr val="C00000">
                  <a:alpha val="0"/>
                </a:srgbClr>
              </a:gs>
              <a:gs pos="45000">
                <a:srgbClr val="C00000">
                  <a:alpha val="20000"/>
                </a:srgbClr>
              </a:gs>
              <a:gs pos="21000">
                <a:srgbClr val="C00000">
                  <a:alpha val="30000"/>
                </a:srgbClr>
              </a:gs>
              <a:gs pos="0">
                <a:srgbClr val="C00000">
                  <a:alpha val="40000"/>
                </a:srgbClr>
              </a:gs>
              <a:gs pos="74000">
                <a:srgbClr val="C00000">
                  <a:alpha val="1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DFC3AC-8854-B7AB-B48C-942F0CC8D64D}"/>
              </a:ext>
            </a:extLst>
          </p:cNvPr>
          <p:cNvCxnSpPr>
            <a:cxnSpLocks/>
          </p:cNvCxnSpPr>
          <p:nvPr/>
        </p:nvCxnSpPr>
        <p:spPr>
          <a:xfrm>
            <a:off x="2083375" y="2663848"/>
            <a:ext cx="31331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20D47B6-7D93-BA88-DD12-A41898660729}"/>
              </a:ext>
            </a:extLst>
          </p:cNvPr>
          <p:cNvSpPr txBox="1"/>
          <p:nvPr/>
        </p:nvSpPr>
        <p:spPr>
          <a:xfrm>
            <a:off x="2159341" y="2298840"/>
            <a:ext cx="252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OCED average in 2025</a:t>
            </a: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F66D7E31-FCC0-016E-9D42-1AC265820F14}"/>
              </a:ext>
            </a:extLst>
          </p:cNvPr>
          <p:cNvSpPr/>
          <p:nvPr/>
        </p:nvSpPr>
        <p:spPr>
          <a:xfrm>
            <a:off x="9472693" y="969885"/>
            <a:ext cx="161925" cy="30809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D2AB06E0-4376-85CF-7A28-2F8C6453B54F}"/>
              </a:ext>
            </a:extLst>
          </p:cNvPr>
          <p:cNvSpPr/>
          <p:nvPr/>
        </p:nvSpPr>
        <p:spPr>
          <a:xfrm>
            <a:off x="10044969" y="972233"/>
            <a:ext cx="161925" cy="308091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B65E45-23AA-BF07-2F07-3829A80F1472}"/>
              </a:ext>
            </a:extLst>
          </p:cNvPr>
          <p:cNvSpPr txBox="1"/>
          <p:nvPr/>
        </p:nvSpPr>
        <p:spPr>
          <a:xfrm>
            <a:off x="8440833" y="907335"/>
            <a:ext cx="11112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2008 crisis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891E59-9C2A-306F-8F65-B729332ED896}"/>
              </a:ext>
            </a:extLst>
          </p:cNvPr>
          <p:cNvSpPr txBox="1"/>
          <p:nvPr/>
        </p:nvSpPr>
        <p:spPr>
          <a:xfrm>
            <a:off x="10141699" y="902883"/>
            <a:ext cx="11112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2020 crisis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A2F82A-71CA-3793-6EA2-BA7FE50EDE94}"/>
              </a:ext>
            </a:extLst>
          </p:cNvPr>
          <p:cNvSpPr txBox="1"/>
          <p:nvPr/>
        </p:nvSpPr>
        <p:spPr>
          <a:xfrm>
            <a:off x="6407745" y="5099756"/>
            <a:ext cx="333347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Cost of interests for financing the debt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4EA92E-3205-DD3A-E1F4-4DCE2FEE03B4}"/>
              </a:ext>
            </a:extLst>
          </p:cNvPr>
          <p:cNvSpPr/>
          <p:nvPr/>
        </p:nvSpPr>
        <p:spPr>
          <a:xfrm rot="10800000">
            <a:off x="6439422" y="2419350"/>
            <a:ext cx="4251960" cy="1223645"/>
          </a:xfrm>
          <a:prstGeom prst="rect">
            <a:avLst/>
          </a:prstGeom>
          <a:gradFill>
            <a:gsLst>
              <a:gs pos="100000">
                <a:srgbClr val="C00000">
                  <a:alpha val="0"/>
                </a:srgbClr>
              </a:gs>
              <a:gs pos="45000">
                <a:srgbClr val="C00000">
                  <a:alpha val="20000"/>
                </a:srgbClr>
              </a:gs>
              <a:gs pos="21000">
                <a:srgbClr val="C00000">
                  <a:alpha val="30000"/>
                </a:srgbClr>
              </a:gs>
              <a:gs pos="0">
                <a:srgbClr val="C00000">
                  <a:alpha val="40000"/>
                </a:srgbClr>
              </a:gs>
              <a:gs pos="74000">
                <a:srgbClr val="C00000">
                  <a:alpha val="1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3554CD-00F1-603A-9659-652E7BB6A491}"/>
              </a:ext>
            </a:extLst>
          </p:cNvPr>
          <p:cNvSpPr/>
          <p:nvPr/>
        </p:nvSpPr>
        <p:spPr>
          <a:xfrm>
            <a:off x="10299637" y="1303191"/>
            <a:ext cx="205369" cy="21264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2F129B-5DD9-C553-1838-AA75AF4E07D2}"/>
              </a:ext>
            </a:extLst>
          </p:cNvPr>
          <p:cNvSpPr/>
          <p:nvPr/>
        </p:nvSpPr>
        <p:spPr>
          <a:xfrm>
            <a:off x="10304667" y="1308967"/>
            <a:ext cx="195263" cy="10913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799D21A-7B58-1B7A-5C8F-67B4DC3D1615}"/>
              </a:ext>
            </a:extLst>
          </p:cNvPr>
          <p:cNvSpPr/>
          <p:nvPr/>
        </p:nvSpPr>
        <p:spPr>
          <a:xfrm rot="5400000">
            <a:off x="6231658" y="5168539"/>
            <a:ext cx="195263" cy="1918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A7CB92C-96F8-D264-BE2B-3E63ECBB3B7E}"/>
              </a:ext>
            </a:extLst>
          </p:cNvPr>
          <p:cNvSpPr/>
          <p:nvPr/>
        </p:nvSpPr>
        <p:spPr>
          <a:xfrm>
            <a:off x="6230214" y="4581301"/>
            <a:ext cx="191819" cy="195263"/>
          </a:xfrm>
          <a:prstGeom prst="rect">
            <a:avLst/>
          </a:prstGeom>
          <a:solidFill>
            <a:srgbClr val="0AA2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71993D-D4D0-2B78-71AD-230F660F1126}"/>
              </a:ext>
            </a:extLst>
          </p:cNvPr>
          <p:cNvSpPr txBox="1"/>
          <p:nvPr/>
        </p:nvSpPr>
        <p:spPr>
          <a:xfrm>
            <a:off x="6391847" y="4525266"/>
            <a:ext cx="269291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Cumulated deficit over 5 years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3F0131-28C8-1A56-76EB-12C4404F28A1}"/>
              </a:ext>
            </a:extLst>
          </p:cNvPr>
          <p:cNvSpPr/>
          <p:nvPr/>
        </p:nvSpPr>
        <p:spPr>
          <a:xfrm>
            <a:off x="6230214" y="4877125"/>
            <a:ext cx="191819" cy="1952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E7621E-3ABD-8B45-0EEE-33ACE1B7C147}"/>
              </a:ext>
            </a:extLst>
          </p:cNvPr>
          <p:cNvSpPr txBox="1"/>
          <p:nvPr/>
        </p:nvSpPr>
        <p:spPr>
          <a:xfrm>
            <a:off x="6401371" y="4819588"/>
            <a:ext cx="3166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Projected for the period 2025-2030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B71BD3A-7EF1-3773-9C81-75972C07FE0B}"/>
              </a:ext>
            </a:extLst>
          </p:cNvPr>
          <p:cNvSpPr/>
          <p:nvPr/>
        </p:nvSpPr>
        <p:spPr>
          <a:xfrm>
            <a:off x="6131902" y="4501236"/>
            <a:ext cx="3990686" cy="979055"/>
          </a:xfrm>
          <a:prstGeom prst="roundRect">
            <a:avLst>
              <a:gd name="adj" fmla="val 9642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105E965-B804-01CC-12D9-57A0B378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430"/>
          <a:stretch>
            <a:fillRect/>
          </a:stretch>
        </p:blipFill>
        <p:spPr>
          <a:xfrm>
            <a:off x="1151041" y="5148262"/>
            <a:ext cx="4063492" cy="688225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758977C8-2563-D63C-6AE7-972C33CA8855}"/>
              </a:ext>
            </a:extLst>
          </p:cNvPr>
          <p:cNvSpPr/>
          <p:nvPr/>
        </p:nvSpPr>
        <p:spPr>
          <a:xfrm>
            <a:off x="5752987" y="1192400"/>
            <a:ext cx="645795" cy="2442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B4A34F-E734-856A-6872-00BC3F22CDE0}"/>
              </a:ext>
            </a:extLst>
          </p:cNvPr>
          <p:cNvSpPr txBox="1"/>
          <p:nvPr/>
        </p:nvSpPr>
        <p:spPr>
          <a:xfrm>
            <a:off x="6142970" y="1157727"/>
            <a:ext cx="381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528406-83ED-6059-0C27-695A0178F813}"/>
              </a:ext>
            </a:extLst>
          </p:cNvPr>
          <p:cNvSpPr txBox="1"/>
          <p:nvPr/>
        </p:nvSpPr>
        <p:spPr>
          <a:xfrm>
            <a:off x="5939171" y="1614423"/>
            <a:ext cx="597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250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FB2F4E-35B8-7FE9-4488-C009202A0570}"/>
              </a:ext>
            </a:extLst>
          </p:cNvPr>
          <p:cNvSpPr txBox="1"/>
          <p:nvPr/>
        </p:nvSpPr>
        <p:spPr>
          <a:xfrm>
            <a:off x="5945745" y="2085373"/>
            <a:ext cx="597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E19E05-3A7D-B8CE-2169-93B571BCC89D}"/>
              </a:ext>
            </a:extLst>
          </p:cNvPr>
          <p:cNvSpPr txBox="1"/>
          <p:nvPr/>
        </p:nvSpPr>
        <p:spPr>
          <a:xfrm>
            <a:off x="5949120" y="2580358"/>
            <a:ext cx="597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750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924C03-005A-0F7B-09E7-5EDEFC2AB2E2}"/>
              </a:ext>
            </a:extLst>
          </p:cNvPr>
          <p:cNvSpPr txBox="1"/>
          <p:nvPr/>
        </p:nvSpPr>
        <p:spPr>
          <a:xfrm>
            <a:off x="5861452" y="3054307"/>
            <a:ext cx="707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1000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D43044-DD06-48B7-D6EC-EB5CA6DAD9AB}"/>
              </a:ext>
            </a:extLst>
          </p:cNvPr>
          <p:cNvSpPr txBox="1"/>
          <p:nvPr/>
        </p:nvSpPr>
        <p:spPr>
          <a:xfrm rot="16200000">
            <a:off x="5009968" y="2291145"/>
            <a:ext cx="151996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/>
              <a:t>Deficit [bn €]</a:t>
            </a:r>
          </a:p>
        </p:txBody>
      </p:sp>
    </p:spTree>
    <p:extLst>
      <p:ext uri="{BB962C8B-B14F-4D97-AF65-F5344CB8AC3E}">
        <p14:creationId xmlns:p14="http://schemas.microsoft.com/office/powerpoint/2010/main" val="267007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34F9040-74D2-9B0A-6B0E-2AA620C18B42}"/>
              </a:ext>
            </a:extLst>
          </p:cNvPr>
          <p:cNvSpPr/>
          <p:nvPr/>
        </p:nvSpPr>
        <p:spPr>
          <a:xfrm>
            <a:off x="1123950" y="-532171"/>
            <a:ext cx="9944100" cy="8372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91216D-3BBB-9593-1099-532EA101A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4"/>
          <a:stretch>
            <a:fillRect/>
          </a:stretch>
        </p:blipFill>
        <p:spPr>
          <a:xfrm>
            <a:off x="2088553" y="3241886"/>
            <a:ext cx="2864447" cy="3369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499974-ECF8-A45B-7820-D9CCCB4347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17" r="8919"/>
          <a:stretch>
            <a:fillRect/>
          </a:stretch>
        </p:blipFill>
        <p:spPr>
          <a:xfrm>
            <a:off x="5600701" y="3376833"/>
            <a:ext cx="4019550" cy="2914071"/>
          </a:xfrm>
          <a:prstGeom prst="rect">
            <a:avLst/>
          </a:prstGeom>
        </p:spPr>
      </p:pic>
      <p:pic>
        <p:nvPicPr>
          <p:cNvPr id="9" name="Picture 4" descr="Les données du graphique sont disponibles dans l'onglet tableau">
            <a:extLst>
              <a:ext uri="{FF2B5EF4-FFF2-40B4-BE49-F238E27FC236}">
                <a16:creationId xmlns:a16="http://schemas.microsoft.com/office/drawing/2014/main" id="{8B5C44B0-BFDD-F165-D61F-DFF13A4301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374" r="50639" b="2619"/>
          <a:stretch>
            <a:fillRect/>
          </a:stretch>
        </p:blipFill>
        <p:spPr bwMode="auto">
          <a:xfrm>
            <a:off x="6840684" y="3180559"/>
            <a:ext cx="2668848" cy="32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84DEEA-DCC9-A48A-B89C-D140FE9E1760}"/>
              </a:ext>
            </a:extLst>
          </p:cNvPr>
          <p:cNvSpPr/>
          <p:nvPr/>
        </p:nvSpPr>
        <p:spPr>
          <a:xfrm>
            <a:off x="1975848" y="3163529"/>
            <a:ext cx="3051619" cy="3505200"/>
          </a:xfrm>
          <a:prstGeom prst="roundRect">
            <a:avLst>
              <a:gd name="adj" fmla="val 6055"/>
            </a:avLst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1C2777-2F71-0179-4D8B-B1ABD8B78572}"/>
              </a:ext>
            </a:extLst>
          </p:cNvPr>
          <p:cNvSpPr/>
          <p:nvPr/>
        </p:nvSpPr>
        <p:spPr>
          <a:xfrm>
            <a:off x="5410200" y="3163530"/>
            <a:ext cx="4486275" cy="3505200"/>
          </a:xfrm>
          <a:prstGeom prst="roundRect">
            <a:avLst>
              <a:gd name="adj" fmla="val 6055"/>
            </a:avLst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6E37C-D6B1-B7BD-8412-7B566B1D0AAD}"/>
              </a:ext>
            </a:extLst>
          </p:cNvPr>
          <p:cNvSpPr txBox="1"/>
          <p:nvPr/>
        </p:nvSpPr>
        <p:spPr>
          <a:xfrm>
            <a:off x="5834083" y="6211866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Gini 0.489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7009C-2E7C-A87F-EDAF-D4F952753010}"/>
              </a:ext>
            </a:extLst>
          </p:cNvPr>
          <p:cNvSpPr txBox="1"/>
          <p:nvPr/>
        </p:nvSpPr>
        <p:spPr>
          <a:xfrm>
            <a:off x="8446783" y="61988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Gini 0.172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319F72-781B-339B-339E-3BA9FC8FDC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391" r="4716"/>
          <a:stretch>
            <a:fillRect/>
          </a:stretch>
        </p:blipFill>
        <p:spPr>
          <a:xfrm>
            <a:off x="1966368" y="-417102"/>
            <a:ext cx="7926932" cy="3363502"/>
          </a:xfrm>
          <a:prstGeom prst="rect">
            <a:avLst/>
          </a:prstGeom>
        </p:spPr>
      </p:pic>
      <p:pic>
        <p:nvPicPr>
          <p:cNvPr id="2" name="Picture 4" descr="Insee Mobile - Apps on Google Play">
            <a:extLst>
              <a:ext uri="{FF2B5EF4-FFF2-40B4-BE49-F238E27FC236}">
                <a16:creationId xmlns:a16="http://schemas.microsoft.com/office/drawing/2014/main" id="{583911EF-4858-A333-6CBD-A444582F4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4" t="20287" r="24040" b="21963"/>
          <a:stretch>
            <a:fillRect/>
          </a:stretch>
        </p:blipFill>
        <p:spPr bwMode="auto">
          <a:xfrm>
            <a:off x="2414331" y="4903429"/>
            <a:ext cx="311543" cy="36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954AA9-3EA5-3E60-F272-4EAE1DA40CB3}"/>
              </a:ext>
            </a:extLst>
          </p:cNvPr>
          <p:cNvSpPr/>
          <p:nvPr/>
        </p:nvSpPr>
        <p:spPr>
          <a:xfrm>
            <a:off x="2311400" y="5537200"/>
            <a:ext cx="939800" cy="927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81A8D-55EB-4D9E-5AFC-746C159B45E7}"/>
              </a:ext>
            </a:extLst>
          </p:cNvPr>
          <p:cNvSpPr txBox="1"/>
          <p:nvPr/>
        </p:nvSpPr>
        <p:spPr>
          <a:xfrm>
            <a:off x="2698865" y="4897079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[INSEE]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71E14E-39E8-92DC-6C18-EBC0330E39AB}"/>
              </a:ext>
            </a:extLst>
          </p:cNvPr>
          <p:cNvSpPr txBox="1"/>
          <p:nvPr/>
        </p:nvSpPr>
        <p:spPr>
          <a:xfrm>
            <a:off x="2317758" y="5378450"/>
            <a:ext cx="1960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“60% of the french population are net beneficiaries”</a:t>
            </a:r>
          </a:p>
        </p:txBody>
      </p:sp>
      <p:pic>
        <p:nvPicPr>
          <p:cNvPr id="6" name="Picture 4" descr="Insee Mobile - Apps on Google Play">
            <a:extLst>
              <a:ext uri="{FF2B5EF4-FFF2-40B4-BE49-F238E27FC236}">
                <a16:creationId xmlns:a16="http://schemas.microsoft.com/office/drawing/2014/main" id="{0FEB0FFA-1D1B-FC16-367D-8BE84AC507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4" t="20287" r="24040" b="21963"/>
          <a:stretch>
            <a:fillRect/>
          </a:stretch>
        </p:blipFill>
        <p:spPr bwMode="auto">
          <a:xfrm>
            <a:off x="5630192" y="6262263"/>
            <a:ext cx="252315" cy="29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Insee Mobile - Apps on Google Play">
            <a:extLst>
              <a:ext uri="{FF2B5EF4-FFF2-40B4-BE49-F238E27FC236}">
                <a16:creationId xmlns:a16="http://schemas.microsoft.com/office/drawing/2014/main" id="{5EF05D88-2502-0E08-9F10-FA56DECAC5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4" t="20287" r="24040" b="21963"/>
          <a:stretch>
            <a:fillRect/>
          </a:stretch>
        </p:blipFill>
        <p:spPr bwMode="auto">
          <a:xfrm>
            <a:off x="8227342" y="6230513"/>
            <a:ext cx="252315" cy="29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53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C8FD9730-D9B7-A292-1E8C-5AE30704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31"/>
          <a:stretch>
            <a:fillRect/>
          </a:stretch>
        </p:blipFill>
        <p:spPr>
          <a:xfrm>
            <a:off x="1783080" y="1419224"/>
            <a:ext cx="2618894" cy="3454401"/>
          </a:xfrm>
          <a:prstGeom prst="rect">
            <a:avLst/>
          </a:prstGeom>
        </p:spPr>
      </p:pic>
      <p:pic>
        <p:nvPicPr>
          <p:cNvPr id="36" name="Picture 4" descr="Insee Mobile - Apps on Google Play">
            <a:extLst>
              <a:ext uri="{FF2B5EF4-FFF2-40B4-BE49-F238E27FC236}">
                <a16:creationId xmlns:a16="http://schemas.microsoft.com/office/drawing/2014/main" id="{2B130236-76CE-41EF-14F3-5BB22C5B8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4" t="20287" r="24040" b="27657"/>
          <a:stretch>
            <a:fillRect/>
          </a:stretch>
        </p:blipFill>
        <p:spPr bwMode="auto">
          <a:xfrm>
            <a:off x="3988884" y="1838325"/>
            <a:ext cx="171953" cy="19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C3655AB-B5E5-17FC-C34F-AABB592D8CAC}"/>
              </a:ext>
            </a:extLst>
          </p:cNvPr>
          <p:cNvSpPr/>
          <p:nvPr/>
        </p:nvSpPr>
        <p:spPr>
          <a:xfrm>
            <a:off x="2089641" y="1553827"/>
            <a:ext cx="2206133" cy="903781"/>
          </a:xfrm>
          <a:prstGeom prst="rect">
            <a:avLst/>
          </a:prstGeom>
          <a:gradFill>
            <a:gsLst>
              <a:gs pos="100000">
                <a:srgbClr val="C00000">
                  <a:alpha val="0"/>
                </a:srgbClr>
              </a:gs>
              <a:gs pos="45000">
                <a:srgbClr val="C00000">
                  <a:alpha val="20000"/>
                </a:srgbClr>
              </a:gs>
              <a:gs pos="21000">
                <a:srgbClr val="C00000">
                  <a:alpha val="30000"/>
                </a:srgbClr>
              </a:gs>
              <a:gs pos="0">
                <a:srgbClr val="C00000">
                  <a:alpha val="40000"/>
                </a:srgbClr>
              </a:gs>
              <a:gs pos="74000">
                <a:srgbClr val="C00000">
                  <a:alpha val="1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5967BFE-324F-DEC8-E09E-29AC3725E9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16"/>
          <a:stretch>
            <a:fillRect/>
          </a:stretch>
        </p:blipFill>
        <p:spPr>
          <a:xfrm>
            <a:off x="4472939" y="1421745"/>
            <a:ext cx="5798821" cy="4005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D152B4-965A-02EB-C16C-33BB182ED314}"/>
              </a:ext>
            </a:extLst>
          </p:cNvPr>
          <p:cNvSpPr/>
          <p:nvPr/>
        </p:nvSpPr>
        <p:spPr>
          <a:xfrm>
            <a:off x="4774927" y="1553827"/>
            <a:ext cx="5435873" cy="1058407"/>
          </a:xfrm>
          <a:prstGeom prst="rect">
            <a:avLst/>
          </a:prstGeom>
          <a:gradFill>
            <a:gsLst>
              <a:gs pos="100000">
                <a:srgbClr val="C00000">
                  <a:alpha val="0"/>
                </a:srgbClr>
              </a:gs>
              <a:gs pos="45000">
                <a:srgbClr val="C00000">
                  <a:alpha val="20000"/>
                </a:srgbClr>
              </a:gs>
              <a:gs pos="21000">
                <a:srgbClr val="C00000">
                  <a:alpha val="30000"/>
                </a:srgbClr>
              </a:gs>
              <a:gs pos="0">
                <a:srgbClr val="C00000">
                  <a:alpha val="40000"/>
                </a:srgbClr>
              </a:gs>
              <a:gs pos="74000">
                <a:srgbClr val="C00000">
                  <a:alpha val="1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5C907-4C93-A53A-9F15-4F499091050A}"/>
              </a:ext>
            </a:extLst>
          </p:cNvPr>
          <p:cNvSpPr txBox="1"/>
          <p:nvPr/>
        </p:nvSpPr>
        <p:spPr>
          <a:xfrm>
            <a:off x="7483522" y="1135667"/>
            <a:ext cx="2170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Stagnation Risk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F3ED49-10C7-B812-6ECD-778E3EB6B31D}"/>
              </a:ext>
            </a:extLst>
          </p:cNvPr>
          <p:cNvSpPr/>
          <p:nvPr/>
        </p:nvSpPr>
        <p:spPr>
          <a:xfrm rot="16200000">
            <a:off x="5994958" y="-28058"/>
            <a:ext cx="280345" cy="2696782"/>
          </a:xfrm>
          <a:prstGeom prst="rect">
            <a:avLst/>
          </a:prstGeom>
          <a:gradFill>
            <a:gsLst>
              <a:gs pos="100000">
                <a:srgbClr val="C00000">
                  <a:alpha val="0"/>
                </a:srgbClr>
              </a:gs>
              <a:gs pos="45000">
                <a:srgbClr val="C00000">
                  <a:alpha val="20000"/>
                </a:srgbClr>
              </a:gs>
              <a:gs pos="21000">
                <a:srgbClr val="C00000">
                  <a:alpha val="30000"/>
                </a:srgbClr>
              </a:gs>
              <a:gs pos="0">
                <a:srgbClr val="C00000">
                  <a:alpha val="40000"/>
                </a:srgbClr>
              </a:gs>
              <a:gs pos="74000">
                <a:srgbClr val="C00000">
                  <a:alpha val="10000"/>
                </a:srgbClr>
              </a:gs>
            </a:gsLst>
            <a:lin ang="5400000" scaled="1"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F48D86-B7FB-3879-55B5-50BBB6226381}"/>
              </a:ext>
            </a:extLst>
          </p:cNvPr>
          <p:cNvSpPr/>
          <p:nvPr/>
        </p:nvSpPr>
        <p:spPr>
          <a:xfrm>
            <a:off x="5645150" y="2120900"/>
            <a:ext cx="152400" cy="2079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1868CB-C872-2221-6963-430A2A892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625017" y="4951688"/>
            <a:ext cx="211075" cy="16193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F467718-57DC-0152-E700-774E8C0E7182}"/>
              </a:ext>
            </a:extLst>
          </p:cNvPr>
          <p:cNvSpPr/>
          <p:nvPr/>
        </p:nvSpPr>
        <p:spPr>
          <a:xfrm>
            <a:off x="3972930" y="2066924"/>
            <a:ext cx="205369" cy="2159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3E42EB8-62B9-EE78-298E-90A8C16273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287" t="84631"/>
          <a:stretch>
            <a:fillRect/>
          </a:stretch>
        </p:blipFill>
        <p:spPr>
          <a:xfrm>
            <a:off x="1669158" y="4307684"/>
            <a:ext cx="2619675" cy="5314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BA6678-5EBB-3064-D70E-481980004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427" y="4455798"/>
            <a:ext cx="335440" cy="257348"/>
          </a:xfrm>
          <a:prstGeom prst="rect">
            <a:avLst/>
          </a:prstGeom>
        </p:spPr>
      </p:pic>
      <p:pic>
        <p:nvPicPr>
          <p:cNvPr id="1028" name="Picture 4" descr="Insee Mobile - Apps on Google Play">
            <a:extLst>
              <a:ext uri="{FF2B5EF4-FFF2-40B4-BE49-F238E27FC236}">
                <a16:creationId xmlns:a16="http://schemas.microsoft.com/office/drawing/2014/main" id="{5FC7F3BF-4378-E763-E09B-BE0FDF82F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4" t="20287" r="24040" b="21963"/>
          <a:stretch>
            <a:fillRect/>
          </a:stretch>
        </p:blipFill>
        <p:spPr bwMode="auto">
          <a:xfrm>
            <a:off x="2137695" y="1236516"/>
            <a:ext cx="230327" cy="290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DC917AC-FB52-4F10-9849-68E24B5E9107}"/>
              </a:ext>
            </a:extLst>
          </p:cNvPr>
          <p:cNvSpPr txBox="1"/>
          <p:nvPr/>
        </p:nvSpPr>
        <p:spPr>
          <a:xfrm>
            <a:off x="2328392" y="1235103"/>
            <a:ext cx="238738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57-60% in 2022 [INSEE]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571760-5ABD-A5AC-7BDB-08B9962E116E}"/>
              </a:ext>
            </a:extLst>
          </p:cNvPr>
          <p:cNvSpPr txBox="1"/>
          <p:nvPr/>
        </p:nvSpPr>
        <p:spPr>
          <a:xfrm rot="16200000">
            <a:off x="-102756" y="2588529"/>
            <a:ext cx="3457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Fraction of net beneficiaries [%]</a:t>
            </a:r>
          </a:p>
        </p:txBody>
      </p:sp>
    </p:spTree>
    <p:extLst>
      <p:ext uri="{BB962C8B-B14F-4D97-AF65-F5344CB8AC3E}">
        <p14:creationId xmlns:p14="http://schemas.microsoft.com/office/powerpoint/2010/main" val="1914220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DB0E346-58B7-0B91-DC7E-83927C52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71" y="1254394"/>
            <a:ext cx="7062986" cy="31788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427ED2-A527-1D40-8209-CB07D46AF2C0}"/>
              </a:ext>
            </a:extLst>
          </p:cNvPr>
          <p:cNvCxnSpPr>
            <a:cxnSpLocks/>
          </p:cNvCxnSpPr>
          <p:nvPr/>
        </p:nvCxnSpPr>
        <p:spPr>
          <a:xfrm flipV="1">
            <a:off x="7546036" y="1371840"/>
            <a:ext cx="0" cy="24606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E3BD35-4ACC-1717-784F-0A563234386B}"/>
              </a:ext>
            </a:extLst>
          </p:cNvPr>
          <p:cNvSpPr txBox="1"/>
          <p:nvPr/>
        </p:nvSpPr>
        <p:spPr>
          <a:xfrm>
            <a:off x="3597897" y="2775167"/>
            <a:ext cx="10906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IGF / ISF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1F85BC-998D-E300-1513-3F7B9BF4D5BE}"/>
              </a:ext>
            </a:extLst>
          </p:cNvPr>
          <p:cNvSpPr txBox="1"/>
          <p:nvPr/>
        </p:nvSpPr>
        <p:spPr>
          <a:xfrm>
            <a:off x="7797512" y="2775167"/>
            <a:ext cx="447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IFI</a:t>
            </a:r>
          </a:p>
        </p:txBody>
      </p:sp>
    </p:spTree>
    <p:extLst>
      <p:ext uri="{BB962C8B-B14F-4D97-AF65-F5344CB8AC3E}">
        <p14:creationId xmlns:p14="http://schemas.microsoft.com/office/powerpoint/2010/main" val="823225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41101-66DF-4926-4AE4-27E2FCE81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72" y="192212"/>
            <a:ext cx="4673544" cy="6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59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317D6E09-7A6D-0BA1-5CBB-B44A1A5A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36" y="565005"/>
            <a:ext cx="4380952" cy="50666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480EB57-3D5E-8D92-7C6D-4F173064C0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28" b="14319"/>
          <a:stretch>
            <a:fillRect/>
          </a:stretch>
        </p:blipFill>
        <p:spPr>
          <a:xfrm>
            <a:off x="1386038" y="566809"/>
            <a:ext cx="4778886" cy="43324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ECDDB-05AD-C482-C30B-F842586442CA}"/>
              </a:ext>
            </a:extLst>
          </p:cNvPr>
          <p:cNvSpPr txBox="1"/>
          <p:nvPr/>
        </p:nvSpPr>
        <p:spPr>
          <a:xfrm>
            <a:off x="5804991" y="5919833"/>
            <a:ext cx="582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Pension payroll contribution rate [employee + employer]</a:t>
            </a:r>
          </a:p>
          <a:p>
            <a:r>
              <a:rPr lang="en-US" i="1" dirty="0"/>
              <a:t>The cost of earning points has risen sharply over time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2FC416E-A5B4-4A3F-1294-619F5EFB81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30" t="86598" r="16191"/>
          <a:stretch>
            <a:fillRect/>
          </a:stretch>
        </p:blipFill>
        <p:spPr>
          <a:xfrm>
            <a:off x="1528378" y="4877590"/>
            <a:ext cx="3975233" cy="6909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91613FD-F086-8B1F-B754-E2F397222C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130" t="86598" r="16191"/>
          <a:stretch>
            <a:fillRect/>
          </a:stretch>
        </p:blipFill>
        <p:spPr>
          <a:xfrm>
            <a:off x="7080814" y="4883544"/>
            <a:ext cx="3975233" cy="6909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4A016EF-F6E4-457C-B3D2-B4E61E3957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3892" b="42832"/>
          <a:stretch>
            <a:fillRect/>
          </a:stretch>
        </p:blipFill>
        <p:spPr>
          <a:xfrm>
            <a:off x="1302646" y="1387270"/>
            <a:ext cx="283223" cy="26703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95400E-E21D-358C-0783-A1DEBB748E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168" r="93519" b="11794"/>
          <a:stretch>
            <a:fillRect/>
          </a:stretch>
        </p:blipFill>
        <p:spPr>
          <a:xfrm>
            <a:off x="1037166" y="2043916"/>
            <a:ext cx="300483" cy="14498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234E329-42E1-42C6-1E1D-F0616B637C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11" t="70033" r="85701" b="23620"/>
          <a:stretch>
            <a:fillRect/>
          </a:stretch>
        </p:blipFill>
        <p:spPr>
          <a:xfrm>
            <a:off x="1440129" y="4073191"/>
            <a:ext cx="393433" cy="32726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E593E3-9580-3B1B-0B68-41497EDF56ED}"/>
              </a:ext>
            </a:extLst>
          </p:cNvPr>
          <p:cNvCxnSpPr>
            <a:cxnSpLocks/>
          </p:cNvCxnSpPr>
          <p:nvPr/>
        </p:nvCxnSpPr>
        <p:spPr>
          <a:xfrm>
            <a:off x="5162550" y="1812708"/>
            <a:ext cx="254926" cy="0"/>
          </a:xfrm>
          <a:prstGeom prst="line">
            <a:avLst/>
          </a:prstGeom>
          <a:ln w="25400">
            <a:solidFill>
              <a:srgbClr val="E7502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44FAB94-E0C4-177F-6B85-E8915B897198}"/>
              </a:ext>
            </a:extLst>
          </p:cNvPr>
          <p:cNvCxnSpPr>
            <a:cxnSpLocks/>
          </p:cNvCxnSpPr>
          <p:nvPr/>
        </p:nvCxnSpPr>
        <p:spPr>
          <a:xfrm>
            <a:off x="1897856" y="1200150"/>
            <a:ext cx="338111" cy="577"/>
          </a:xfrm>
          <a:prstGeom prst="line">
            <a:avLst/>
          </a:prstGeom>
          <a:ln w="25400">
            <a:solidFill>
              <a:srgbClr val="E7502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520BFBE-6488-C039-D3BC-FF2DCE44B466}"/>
              </a:ext>
            </a:extLst>
          </p:cNvPr>
          <p:cNvSpPr txBox="1"/>
          <p:nvPr/>
        </p:nvSpPr>
        <p:spPr>
          <a:xfrm>
            <a:off x="3449570" y="1233783"/>
            <a:ext cx="113453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E75021"/>
                </a:solidFill>
              </a:rPr>
              <a:t>Mitterand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EF6291-F2D7-7877-DC71-82EA79A8461E}"/>
              </a:ext>
            </a:extLst>
          </p:cNvPr>
          <p:cNvSpPr txBox="1"/>
          <p:nvPr/>
        </p:nvSpPr>
        <p:spPr>
          <a:xfrm>
            <a:off x="3910144" y="2895291"/>
            <a:ext cx="105833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E75021"/>
                </a:solidFill>
              </a:rPr>
              <a:t>Sarkozy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AF688C-539C-E244-A43B-23DE0E302A00}"/>
              </a:ext>
            </a:extLst>
          </p:cNvPr>
          <p:cNvSpPr txBox="1"/>
          <p:nvPr/>
        </p:nvSpPr>
        <p:spPr>
          <a:xfrm>
            <a:off x="4284555" y="1961200"/>
            <a:ext cx="105833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E75021"/>
                </a:solidFill>
              </a:rPr>
              <a:t>Macron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7C0AA30-F913-D6A5-F271-349129EA9872}"/>
              </a:ext>
            </a:extLst>
          </p:cNvPr>
          <p:cNvCxnSpPr>
            <a:cxnSpLocks/>
          </p:cNvCxnSpPr>
          <p:nvPr/>
        </p:nvCxnSpPr>
        <p:spPr>
          <a:xfrm>
            <a:off x="5162550" y="847508"/>
            <a:ext cx="254926" cy="0"/>
          </a:xfrm>
          <a:prstGeom prst="line">
            <a:avLst/>
          </a:prstGeom>
          <a:ln w="95250">
            <a:solidFill>
              <a:srgbClr val="E7502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B2C6C3F-9A6A-611F-D3DA-2385E161D1AB}"/>
              </a:ext>
            </a:extLst>
          </p:cNvPr>
          <p:cNvSpPr txBox="1"/>
          <p:nvPr/>
        </p:nvSpPr>
        <p:spPr>
          <a:xfrm>
            <a:off x="3814619" y="673332"/>
            <a:ext cx="1383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75021"/>
                </a:solidFill>
              </a:rPr>
              <a:t>EU average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1A22F7-B372-4F7F-6603-ED7EA1F2AFA9}"/>
              </a:ext>
            </a:extLst>
          </p:cNvPr>
          <p:cNvCxnSpPr>
            <a:cxnSpLocks/>
          </p:cNvCxnSpPr>
          <p:nvPr/>
        </p:nvCxnSpPr>
        <p:spPr>
          <a:xfrm flipV="1">
            <a:off x="4933950" y="1804988"/>
            <a:ext cx="230981" cy="1228725"/>
          </a:xfrm>
          <a:prstGeom prst="line">
            <a:avLst/>
          </a:prstGeom>
          <a:ln w="25400">
            <a:solidFill>
              <a:srgbClr val="E7502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7970D7E-0126-2CDA-3696-BD945BC92E77}"/>
              </a:ext>
            </a:extLst>
          </p:cNvPr>
          <p:cNvCxnSpPr>
            <a:cxnSpLocks/>
          </p:cNvCxnSpPr>
          <p:nvPr/>
        </p:nvCxnSpPr>
        <p:spPr>
          <a:xfrm flipV="1">
            <a:off x="4519612" y="3019426"/>
            <a:ext cx="226219" cy="1217395"/>
          </a:xfrm>
          <a:prstGeom prst="line">
            <a:avLst/>
          </a:prstGeom>
          <a:ln w="25400">
            <a:solidFill>
              <a:srgbClr val="E7502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8A888B-6B48-257D-147E-51A81E1089E7}"/>
              </a:ext>
            </a:extLst>
          </p:cNvPr>
          <p:cNvCxnSpPr>
            <a:cxnSpLocks/>
          </p:cNvCxnSpPr>
          <p:nvPr/>
        </p:nvCxnSpPr>
        <p:spPr>
          <a:xfrm>
            <a:off x="4733925" y="3026569"/>
            <a:ext cx="209681" cy="577"/>
          </a:xfrm>
          <a:prstGeom prst="line">
            <a:avLst/>
          </a:prstGeom>
          <a:ln w="25400">
            <a:solidFill>
              <a:srgbClr val="E7502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2870D34-13AE-CEA7-3891-E945F21AC9C4}"/>
              </a:ext>
            </a:extLst>
          </p:cNvPr>
          <p:cNvSpPr txBox="1"/>
          <p:nvPr/>
        </p:nvSpPr>
        <p:spPr>
          <a:xfrm>
            <a:off x="5396057" y="659410"/>
            <a:ext cx="623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75021"/>
                </a:solidFill>
              </a:rPr>
              <a:t>65.6</a:t>
            </a:r>
          </a:p>
        </p:txBody>
      </p:sp>
    </p:spTree>
    <p:extLst>
      <p:ext uri="{BB962C8B-B14F-4D97-AF65-F5344CB8AC3E}">
        <p14:creationId xmlns:p14="http://schemas.microsoft.com/office/powerpoint/2010/main" val="172531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3084</TotalTime>
  <Words>97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Aurélien Pélissier</dc:creator>
  <cp:lastModifiedBy>Aurélien Pélissier</cp:lastModifiedBy>
  <cp:revision>69</cp:revision>
  <dcterms:created xsi:type="dcterms:W3CDTF">2025-11-02T01:44:37Z</dcterms:created>
  <dcterms:modified xsi:type="dcterms:W3CDTF">2025-11-04T05:09:27Z</dcterms:modified>
</cp:coreProperties>
</file>